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</ns0:sldIdLst>
  <ns0:sldSz cx="12192000" cy="6858000" type="screen4x3"/>
  <ns0:notesSz cx="6858000" cy="9144000"/>
  <ns0:embeddedFontLst>
    <ns0:embeddedFont>
      <ns0:font typeface="Space Grotesk"/>
      <ns0:bold ns1:id="rIdFont17"/>
    </ns0:embeddedFont>
    <ns0:embeddedFont>
      <ns0:font typeface="Plus Jakarta Sans"/>
      <ns0:bold ns1:id="rIdFont18"/>
      <ns0:regular ns1:id="rIdFont19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Font17" Type="http://schemas.openxmlformats.org/officeDocument/2006/relationships/font" Target="fonts/c6d61776-485c-4e1f-afb5-dd11ac1dec54.fntdata" /><ns0:Relationship Id="rIdFont18" Type="http://schemas.openxmlformats.org/officeDocument/2006/relationships/font" Target="fonts/5da3b342-cc9a-4f61-9983-0ebb6fd65ebb.fntdata" /><ns0:Relationship Id="rIdFont19" Type="http://schemas.openxmlformats.org/officeDocument/2006/relationships/font" Target="fonts/cd2e1818-78c3-4ea6-9457-2da7d62dd9ea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502348"/>
            <a:ext cx="7620000" cy="600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755427"/>
            <a:ext cx="1343025" cy="28575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4502348"/>
            <a:ext cx="76200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2269777"/>
            <a:ext cx="11251406" cy="6704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b="1" sz="4800" i="0" u="none">
                <a:solidFill>
                  <a:srgbClr val="FFFFFF"/>
                </a:solidFill>
                <a:latin typeface="Space Grotesk"/>
              </a:rPr>
              <a:t>MAINTAIN 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092648"/>
            <a:ext cx="95250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8BDF8"/>
                </a:solidFill>
                <a:latin typeface="Plus Jakarta Sans"/>
              </a:rPr>
              <a:t>AI-Powered Maintenance Request &amp; Autonomous Dispatch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606998"/>
            <a:ext cx="67627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94A3B8"/>
                </a:solidFill>
                <a:latin typeface="Plus Jakarta Sans"/>
              </a:rPr>
              <a:t>Multimodal vision fault diagnosis native to n8n workflows for smart campus infrastructure.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812577"/>
            <a:ext cx="11334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Space Grotesk"/>
              </a:rPr>
              <a:t>TEAM CODE 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66925" y="1812577"/>
            <a:ext cx="201215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Plus Jakarta Sans"/>
              </a:rPr>
              <a:t>GLA University Hackathon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740473"/>
            <a:ext cx="3321843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Plus Jakarta Sans"/>
              </a:rPr>
              <a:t>TECH 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4921448"/>
            <a:ext cx="3321843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E2E8F0"/>
                </a:solidFill>
                <a:latin typeface="Plus Jakarta Sans"/>
              </a:rPr>
              <a:t>n8n Cloud, OpenAI Vision, Data Tables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71875" y="4740473"/>
            <a:ext cx="2393156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Plus Jakarta Sans"/>
              </a:rPr>
              <a:t>STAGE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1875" y="4921448"/>
            <a:ext cx="2393156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E2E8F0"/>
                </a:solidFill>
                <a:latin typeface="Plus Jakarta Sans"/>
              </a:rPr>
              <a:t>Stage 1 &amp; 2 Live Submission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293566"/>
            <a:ext cx="10972800" cy="1104900"/>
          </a:xfrm>
          <a:prstGeom prst="roundRect">
            <a:avLst>
              <a:gd name="adj" fmla="val 10344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314450"/>
            <a:ext cx="2600325" cy="1674316"/>
          </a:xfrm>
          <a:prstGeom prst="roundRect">
            <a:avLst>
              <a:gd name="adj" fmla="val 682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00425" y="1314450"/>
            <a:ext cx="2600325" cy="1674316"/>
          </a:xfrm>
          <a:prstGeom prst="roundRect">
            <a:avLst>
              <a:gd name="adj" fmla="val 682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91250" y="1314450"/>
            <a:ext cx="2600325" cy="1674316"/>
          </a:xfrm>
          <a:prstGeom prst="roundRect">
            <a:avLst>
              <a:gd name="adj" fmla="val 682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82075" y="1314450"/>
            <a:ext cx="2600325" cy="1674316"/>
          </a:xfrm>
          <a:prstGeom prst="roundRect">
            <a:avLst>
              <a:gd name="adj" fmla="val 682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972550" y="3665041"/>
            <a:ext cx="2305050" cy="361950"/>
          </a:xfrm>
          <a:prstGeom prst="roundRect">
            <a:avLst>
              <a:gd name="adj" fmla="val 21052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1552575"/>
            <a:ext cx="285750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8550" y="1552575"/>
            <a:ext cx="171450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75" y="1552575"/>
            <a:ext cx="285750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0200" y="1552575"/>
            <a:ext cx="228600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CAMPUS STUDY: 16 HOSTELS &amp; 7 BLOCKS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286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Why Campus Maintenance Reporting Fails Today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63050" y="3760291"/>
            <a:ext cx="20193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Plus Jakarta Sans"/>
              </a:rPr>
              <a:t>NEED: AUTOMATED DISPATCH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1895475"/>
            <a:ext cx="278784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Scattered Channels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2114550"/>
            <a:ext cx="2219325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WhatsApp, calls, and verbal reports lead to lost or duplicated tickets.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8550" y="1895475"/>
            <a:ext cx="278784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Missing 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8550" y="2190750"/>
            <a:ext cx="2219325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Reports omit block, floor, or room numbers, wasting staff follow-up time.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9375" y="1895475"/>
            <a:ext cx="278784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Zero Visibility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9375" y="2190750"/>
            <a:ext cx="2219325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Students cannot track progress and wardens lack central open work views.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0200" y="1895475"/>
            <a:ext cx="278784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Unsafe Delays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20200" y="2190750"/>
            <a:ext cx="2219325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Hazardous issues like electrical leaks sit unchecked without priority judgment.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522166"/>
            <a:ext cx="100726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KEY RESEARCH FINDING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731716"/>
            <a:ext cx="81534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Plus Jakarta Sans"/>
              </a:rPr>
              <a:t>Over 65% of GLA campus maintenance issues are reported repeatedly due to lack of public tracking.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10275" y="2528887"/>
            <a:ext cx="5572125" cy="2733675"/>
          </a:xfrm>
          <a:prstGeom prst="roundRect">
            <a:avLst>
              <a:gd name="adj" fmla="val 4181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776537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586162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4395787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391525" y="3062287"/>
            <a:ext cx="2952750" cy="361950"/>
          </a:xfrm>
          <a:prstGeom prst="roundRect">
            <a:avLst>
              <a:gd name="adj" fmla="val 31578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48400" y="3538537"/>
            <a:ext cx="4331493" cy="533400"/>
          </a:xfrm>
          <a:prstGeom prst="roundRect">
            <a:avLst>
              <a:gd name="adj" fmla="val 21428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867900" y="4186237"/>
            <a:ext cx="1476375" cy="361950"/>
          </a:xfrm>
          <a:prstGeom prst="roundRect">
            <a:avLst>
              <a:gd name="adj" fmla="val 31578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48400" y="4662487"/>
            <a:ext cx="3629025" cy="361950"/>
          </a:xfrm>
          <a:prstGeom prst="roundRect">
            <a:avLst>
              <a:gd name="adj" fmla="val 31578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INNOVATION BREAKTHROUGH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Conversational Multimodal Vision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8400" y="2767012"/>
            <a:ext cx="594360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Plus Jakarta Sans"/>
              </a:rPr>
              <a:t>LIVE TESTED CHAT 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725" y="2776537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0284C7"/>
                </a:solidFill>
                <a:latin typeface="Plus Jakarta San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725" y="3586162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0284C7"/>
                </a:solidFill>
                <a:latin typeface="Plus Jakarta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725" y="4395787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0284C7"/>
                </a:solidFill>
                <a:latin typeface="Plus Jakarta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24875" y="3157537"/>
            <a:ext cx="27813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FFFFFF"/>
                </a:solidFill>
                <a:latin typeface="Plus Jakarta Sans"/>
              </a:rPr>
              <a:t>AC dripping water in AB7 room 1034 [photo]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1750" y="3633787"/>
            <a:ext cx="4160043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F172A"/>
                </a:solidFill>
                <a:latin typeface="Plus Jakarta Sans"/>
              </a:rPr>
              <a:t>Condensate leak detected (MEDIUM severity). Keep electronics safe. What is your name &amp; contact?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01250" y="4281487"/>
            <a:ext cx="13049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FFFFFF"/>
                </a:solidFill>
                <a:latin typeface="Plus Jakarta Sans"/>
              </a:rPr>
              <a:t>Harshit, 98xxxxxx10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1750" y="4757737"/>
            <a:ext cx="34575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F172A"/>
                </a:solidFill>
                <a:latin typeface="Plus Jakarta Sans"/>
              </a:rPr>
              <a:t>Logged as MR-MVTQ4LZ1. Technician toolkit assigned.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4900" y="2776537"/>
            <a:ext cx="603825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Conversational Slot-Filling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4900" y="3033712"/>
            <a:ext cx="469582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Replaces long forms with AI asking only for missing location and contact details.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900" y="3586162"/>
            <a:ext cx="603825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Vision Fault Inspection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" y="3843337"/>
            <a:ext cx="469582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Analyzes physical photos to extract equipment, failure point, and tools in JSON format.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4900" y="4395787"/>
            <a:ext cx="603825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Two-Way Unique ID Tracking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4900" y="4652962"/>
            <a:ext cx="469582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Generates instant MR-XXXX IDs for status queries anytime against live database.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86075"/>
            <a:ext cx="10972800" cy="571500"/>
          </a:xfrm>
          <a:prstGeom prst="roundRect">
            <a:avLst>
              <a:gd name="adj" fmla="val 13333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390650"/>
            <a:ext cx="2628900" cy="1190625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390900" y="1390650"/>
            <a:ext cx="2628900" cy="1190625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72200" y="1390650"/>
            <a:ext cx="2628900" cy="1190625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53500" y="1390650"/>
            <a:ext cx="2628900" cy="1190625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2571750"/>
            <a:ext cx="26289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1390650"/>
            <a:ext cx="26289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1390650"/>
            <a:ext cx="9525" cy="11906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28975" y="1390650"/>
            <a:ext cx="9525" cy="11906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90900" y="2571750"/>
            <a:ext cx="26289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90900" y="1390650"/>
            <a:ext cx="26289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90900" y="1390650"/>
            <a:ext cx="9525" cy="11906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10275" y="1390650"/>
            <a:ext cx="9525" cy="11906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2571750"/>
            <a:ext cx="26289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390650"/>
            <a:ext cx="26289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1390650"/>
            <a:ext cx="9525" cy="11906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791575" y="1390650"/>
            <a:ext cx="9525" cy="11906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53500" y="2571750"/>
            <a:ext cx="26289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53500" y="1390650"/>
            <a:ext cx="26289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53500" y="1390650"/>
            <a:ext cx="9525" cy="11906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572875" y="1390650"/>
            <a:ext cx="9525" cy="11906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SYSTEM ARCHITECTURE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Built 100% Native on n8n Engine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7725" y="3086100"/>
            <a:ext cx="239315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369A1"/>
                </a:solidFill>
                <a:latin typeface="Plus Jakarta Sans"/>
              </a:rPr>
              <a:t>n8n Internal Data Tables Used: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46018" y="3086100"/>
            <a:ext cx="594598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C4A6E"/>
                </a:solidFill>
                <a:latin typeface="Plus Jakarta Sans"/>
              </a:rPr>
              <a:t>maintenance_requests</a:t>
            </a:r>
            <a:r>
              <a:rPr b="0" sz="1050" i="0" u="none">
                <a:solidFill>
                  <a:srgbClr val="0C4A6E"/>
                </a:solidFill>
                <a:latin typeface="Plus Jakarta Sans"/>
              </a:rPr>
              <a:t> (Ticket state)  |  </a:t>
            </a:r>
            <a:r>
              <a:rPr b="0" sz="1050" i="0" u="none">
                <a:solidFill>
                  <a:srgbClr val="0C4A6E"/>
                </a:solidFill>
                <a:latin typeface="Plus Jakarta Sans"/>
              </a:rPr>
              <a:t>chat_messages</a:t>
            </a:r>
            <a:r>
              <a:rPr b="0" sz="1050" i="0" u="none">
                <a:solidFill>
                  <a:srgbClr val="0C4A6E"/>
                </a:solidFill>
                <a:latin typeface="Plus Jakarta Sans"/>
              </a:rPr>
              <a:t> (Logs &amp; Vision diagnosis)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625" y="1619250"/>
            <a:ext cx="2786062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Plus Jakarta Sans"/>
              </a:rPr>
              <a:t>STEP 1: USER SITE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625" y="1800225"/>
            <a:ext cx="292536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Plus Jakarta Sans"/>
              </a:rPr>
              <a:t>HTML/JS Chat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625" y="2076450"/>
            <a:ext cx="2324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Captures message &amp; shrinks photo on canvas prior to upload.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90925" y="1619250"/>
            <a:ext cx="2786062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Plus Jakarta Sans"/>
              </a:rPr>
              <a:t>STEP 2: MULTIMODAL AI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90925" y="1800225"/>
            <a:ext cx="292536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Plus Jakarta Sans"/>
              </a:rPr>
              <a:t>OpenAI Vision Node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90925" y="2076450"/>
            <a:ext cx="2324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Parses binary base64 to classify equipment, fault, and tool kit.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72225" y="1619250"/>
            <a:ext cx="2786062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Plus Jakarta Sans"/>
              </a:rPr>
              <a:t>STEP 3: AGENT LOGIC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72225" y="1800225"/>
            <a:ext cx="292536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Plus Jakarta Sans"/>
              </a:rPr>
              <a:t>AI Agent &amp; Tools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72225" y="2076450"/>
            <a:ext cx="2324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Maintains conversation state and writes rows to n8n Data Tables.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53525" y="1619250"/>
            <a:ext cx="2786062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Plus Jakarta Sans"/>
              </a:rPr>
              <a:t>STEP 4: ADMIN VIEW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53525" y="1800225"/>
            <a:ext cx="292536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Plus Jakarta Sans"/>
              </a:rPr>
              <a:t>Admin Dashboard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53525" y="2076450"/>
            <a:ext cx="2324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Basic Auth view displaying requests, photos, diagnosis, &amp; logs.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52725"/>
            <a:ext cx="3505200" cy="22860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752725"/>
            <a:ext cx="3505200" cy="22860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752725"/>
            <a:ext cx="3505200" cy="22860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85825" y="4457700"/>
            <a:ext cx="2952750" cy="304800"/>
          </a:xfrm>
          <a:prstGeom prst="roundRect">
            <a:avLst>
              <a:gd name="adj" fmla="val 1875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619625" y="4457700"/>
            <a:ext cx="2952750" cy="304800"/>
          </a:xfrm>
          <a:prstGeom prst="roundRect">
            <a:avLst>
              <a:gd name="adj" fmla="val 1875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53425" y="4457700"/>
            <a:ext cx="2952750" cy="304800"/>
          </a:xfrm>
          <a:prstGeom prst="roundRect">
            <a:avLst>
              <a:gd name="adj" fmla="val 1875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028950"/>
            <a:ext cx="238125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3028950"/>
            <a:ext cx="266700" cy="266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3028950"/>
            <a:ext cx="238125" cy="2667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TECHNICAL EDGE CASES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Engineering Optimization &amp; Fail-Safes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3448050"/>
            <a:ext cx="387548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Browser Image Compression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3762375"/>
            <a:ext cx="304800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Client-side JavaScript scales phone photos on an HTML5 canvas prior to webhook POST.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0125" y="4533900"/>
            <a:ext cx="2819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Plus Jakarta Sans"/>
              </a:rPr>
              <a:t>Payload Reduced: 15MB → &lt;300KB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9625" y="3448050"/>
            <a:ext cx="387548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Fail-Safe Vision Handling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9625" y="3762375"/>
            <a:ext cx="304800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Blurry or dark photos trigger graceful fallbacks to manual inspection without crashing.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3925" y="4533900"/>
            <a:ext cx="2819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Plus Jakarta Sans"/>
              </a:rPr>
              <a:t>Zero Requests Lost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3425" y="3448050"/>
            <a:ext cx="38385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HTTP Basic Authentication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3425" y="3762375"/>
            <a:ext cx="304800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Admin dashboard protected with secure headers. Credentials isolated from public source.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67725" y="4533900"/>
            <a:ext cx="2819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Plus Jakarta Sans"/>
              </a:rPr>
              <a:t>Protected Admin Panel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390650"/>
            <a:ext cx="5334000" cy="790575"/>
          </a:xfrm>
          <a:prstGeom prst="roundRect">
            <a:avLst>
              <a:gd name="adj" fmla="val 1204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333625"/>
            <a:ext cx="5334000" cy="790575"/>
          </a:xfrm>
          <a:prstGeom prst="roundRect">
            <a:avLst>
              <a:gd name="adj" fmla="val 1204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276600"/>
            <a:ext cx="5334000" cy="790575"/>
          </a:xfrm>
          <a:prstGeom prst="roundRect">
            <a:avLst>
              <a:gd name="adj" fmla="val 1204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48400" y="2014537"/>
            <a:ext cx="2590800" cy="142875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91600" y="2014537"/>
            <a:ext cx="2590800" cy="142875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1390650"/>
            <a:ext cx="38100" cy="790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2333625"/>
            <a:ext cx="38100" cy="790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3276600"/>
            <a:ext cx="38100" cy="790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MEASURED IMPACT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Operational Gains for Campus Stakeholders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1581150"/>
            <a:ext cx="645080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Plus Jakarta Sans"/>
              </a:rPr>
              <a:t>Students &amp; Faculty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1819275"/>
            <a:ext cx="6143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30-second reporting from phone without sign-up requirement.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524125"/>
            <a:ext cx="645080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Plus Jakarta Sans"/>
              </a:rPr>
              <a:t>Technicians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2762250"/>
            <a:ext cx="6143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Pre-dispatch tool checklist eliminates back-and-forth workshop trips.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3467100"/>
            <a:ext cx="645080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Plus Jakarta Sans"/>
              </a:rPr>
              <a:t>Campus Administration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3705225"/>
            <a:ext cx="6143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Single dashboard oversight across 16 hostels reduces hazard liabilities.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5550" y="2319337"/>
            <a:ext cx="2476500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b="1" sz="4200" i="0" u="none">
                <a:solidFill>
                  <a:srgbClr val="38BDF8"/>
                </a:solidFill>
                <a:latin typeface="Plus Jakarta Sans"/>
              </a:rPr>
              <a:t>10s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5550" y="2967037"/>
            <a:ext cx="24765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94A3B8"/>
                </a:solidFill>
                <a:latin typeface="Plus Jakarta Sans"/>
              </a:rPr>
              <a:t>Response Time &amp; Diagnosis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8750" y="2319337"/>
            <a:ext cx="2476500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b="1" sz="4200" i="0" u="none">
                <a:solidFill>
                  <a:srgbClr val="38BDF8"/>
                </a:solidFill>
                <a:latin typeface="Plus Jakarta Sans"/>
              </a:rPr>
              <a:t>50%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48750" y="2967037"/>
            <a:ext cx="24765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94A3B8"/>
                </a:solidFill>
                <a:latin typeface="Plus Jakarta Sans"/>
              </a:rPr>
              <a:t>Reduction in Wasted Trips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533775"/>
            <a:ext cx="10972800" cy="381000"/>
          </a:xfrm>
          <a:prstGeom prst="roundRect">
            <a:avLst>
              <a:gd name="adj" fmla="val 1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55989" y="1819275"/>
            <a:ext cx="628650" cy="219075"/>
          </a:xfrm>
          <a:prstGeom prst="roundRect">
            <a:avLst>
              <a:gd name="adj" fmla="val 17391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55989" y="2228850"/>
            <a:ext cx="676275" cy="219075"/>
          </a:xfrm>
          <a:prstGeom prst="roundRect">
            <a:avLst>
              <a:gd name="adj" fmla="val 17391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55989" y="2638425"/>
            <a:ext cx="438150" cy="219075"/>
          </a:xfrm>
          <a:prstGeom prst="roundRect">
            <a:avLst>
              <a:gd name="adj" fmla="val 17391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55989" y="3048000"/>
            <a:ext cx="666750" cy="219075"/>
          </a:xfrm>
          <a:prstGeom prst="roundRect">
            <a:avLst>
              <a:gd name="adj" fmla="val 17391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9600" y="1314450"/>
          <a:ext cx="10972798" cy="202882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009030"/>
                <a:gridCol w="2284958"/>
                <a:gridCol w="1136898"/>
                <a:gridCol w="2847975"/>
                <a:gridCol w="2693937"/>
              </a:tblGrid>
              <a:tr h="40576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Issue Type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AI Detection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Severity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Technician Kit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User Safety Step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0576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AC Water Drip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Condensate drain blocked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Wet vacuum, drain brush, hose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Keep electronics away from drip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0576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Sparking Switchboard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Loose wire shorting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Insulated pliers, replacement MCB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Do not touch; cut master switch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0576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Pipe Fitting Leak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Loose elbow connection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Teflon tape, pipe wrench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Place a bucket underneath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0576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Blurry / Dark Photo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Unclear image focus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Standard diagnostic kit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Logged; technician will inspect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STANDARDIZED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Severity &amp; Technician Tooling Rules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648075"/>
            <a:ext cx="107632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475569"/>
                </a:solidFill>
                <a:latin typeface="Plus Jakarta Sans"/>
              </a:rPr>
              <a:t>Strict JSON Model Output:</a:t>
            </a:r>
            <a:r>
              <a:rPr b="0" sz="975" i="0" u="none">
                <a:solidFill>
                  <a:srgbClr val="475569"/>
                </a:solidFill>
                <a:latin typeface="Plus Jakarta Sans"/>
              </a:rPr>
              <a:t> </a:t>
            </a:r>
            <a:r>
              <a:rPr b="0" sz="975" i="0" u="none">
                <a:solidFill>
                  <a:srgbClr val="475569"/>
                </a:solidFill>
                <a:latin typeface="Plus Jakarta Sans"/>
              </a:rPr>
              <a:t>equipment_type</a:t>
            </a:r>
            <a:r>
              <a:rPr b="0" sz="975" i="0" u="none">
                <a:solidFill>
                  <a:srgbClr val="475569"/>
                </a:solidFill>
                <a:latin typeface="Plus Jakarta Sans"/>
              </a:rPr>
              <a:t>, </a:t>
            </a:r>
            <a:r>
              <a:rPr b="0" sz="975" i="0" u="none">
                <a:solidFill>
                  <a:srgbClr val="475569"/>
                </a:solidFill>
                <a:latin typeface="Plus Jakarta Sans"/>
              </a:rPr>
              <a:t>fault_detected</a:t>
            </a:r>
            <a:r>
              <a:rPr b="0" sz="975" i="0" u="none">
                <a:solidFill>
                  <a:srgbClr val="475569"/>
                </a:solidFill>
                <a:latin typeface="Plus Jakarta Sans"/>
              </a:rPr>
              <a:t>, </a:t>
            </a:r>
            <a:r>
              <a:rPr b="0" sz="975" i="0" u="none">
                <a:solidFill>
                  <a:srgbClr val="475569"/>
                </a:solidFill>
                <a:latin typeface="Plus Jakarta Sans"/>
              </a:rPr>
              <a:t>severity</a:t>
            </a:r>
            <a:r>
              <a:rPr b="0" sz="975" i="0" u="none">
                <a:solidFill>
                  <a:srgbClr val="475569"/>
                </a:solidFill>
                <a:latin typeface="Plus Jakarta Sans"/>
              </a:rPr>
              <a:t>, </a:t>
            </a:r>
            <a:r>
              <a:rPr b="0" sz="975" i="0" u="none">
                <a:solidFill>
                  <a:srgbClr val="475569"/>
                </a:solidFill>
                <a:latin typeface="Plus Jakarta Sans"/>
              </a:rPr>
              <a:t>technician_dispatch_checklist</a:t>
            </a:r>
            <a:r>
              <a:rPr b="0" sz="975" i="0" u="none">
                <a:solidFill>
                  <a:srgbClr val="475569"/>
                </a:solidFill>
                <a:latin typeface="Plus Jakarta Sans"/>
              </a:rPr>
              <a:t>, </a:t>
            </a:r>
            <a:r>
              <a:rPr b="0" sz="975" i="0" u="none">
                <a:solidFill>
                  <a:srgbClr val="475569"/>
                </a:solidFill>
                <a:latin typeface="Plus Jakarta Sans"/>
              </a:rPr>
              <a:t>immediate_reporter_safety_step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32189" y="1857375"/>
            <a:ext cx="5715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Plus Jakarta Sans"/>
              </a:rPr>
              <a:t>MEDIUM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32189" y="2266950"/>
            <a:ext cx="6191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DC2626"/>
                </a:solidFill>
                <a:latin typeface="Plus Jakarta Sans"/>
              </a:rPr>
              <a:t>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32189" y="2676525"/>
            <a:ext cx="3810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6A34A"/>
                </a:solidFill>
                <a:latin typeface="Plus Jakarta Sans"/>
              </a:rPr>
              <a:t>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32189" y="3086100"/>
            <a:ext cx="6096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475569"/>
                </a:solidFill>
                <a:latin typeface="Plus Jakarta Sans"/>
              </a:rPr>
              <a:t>MANUAL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52750"/>
            <a:ext cx="109728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390650"/>
            <a:ext cx="2600325" cy="125730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00425" y="1390650"/>
            <a:ext cx="2600325" cy="125730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91250" y="1390650"/>
            <a:ext cx="2600325" cy="125730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82075" y="1390650"/>
            <a:ext cx="2600325" cy="125730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6887" y="1628775"/>
            <a:ext cx="285750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6287" y="1628775"/>
            <a:ext cx="228600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1400" y="1628775"/>
            <a:ext cx="200025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7937" y="1628775"/>
            <a:ext cx="228600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VALIDATED PROTOTYPE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Live Prototype Testing &amp; Benchmarks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3152775"/>
            <a:ext cx="113442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VERIFIED END-TO-END WALKTHROUGH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3343275"/>
            <a:ext cx="105918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Photo uploaded on user site → Vision engine diagnoses fault &amp; severity → Unique MR-XXXX generated &amp; stored in n8n Data Tables → Immediately updated on Admin Dashboard.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838" y="1933575"/>
            <a:ext cx="2787848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Plus Jakarta Sans"/>
              </a:rPr>
              <a:t>n8n Cloud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2215" y="2257425"/>
            <a:ext cx="265509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Public Live Deployment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06663" y="1933575"/>
            <a:ext cx="2787848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Plus Jakarta Sans"/>
              </a:rP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73040" y="2257425"/>
            <a:ext cx="265509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Successful Test Runs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7488" y="1933575"/>
            <a:ext cx="2787848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Plus Jakarta Sans"/>
              </a:rPr>
              <a:t>10s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63865" y="2257425"/>
            <a:ext cx="265509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Average Reply 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88313" y="1933575"/>
            <a:ext cx="2787848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Plus Jakarta Sans"/>
              </a:rPr>
              <a:t>24/7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54690" y="2257425"/>
            <a:ext cx="265509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Webhook Uptime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24200"/>
            <a:ext cx="10972800" cy="57150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390650"/>
            <a:ext cx="3505200" cy="142875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1390650"/>
            <a:ext cx="3505200" cy="142875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1390650"/>
            <a:ext cx="3505200" cy="142875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7725" y="1638300"/>
            <a:ext cx="695325" cy="219075"/>
          </a:xfrm>
          <a:prstGeom prst="roundRect">
            <a:avLst>
              <a:gd name="adj" fmla="val 17391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81525" y="1638300"/>
            <a:ext cx="714375" cy="219075"/>
          </a:xfrm>
          <a:prstGeom prst="roundRect">
            <a:avLst>
              <a:gd name="adj" fmla="val 17391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315325" y="1638300"/>
            <a:ext cx="714375" cy="219075"/>
          </a:xfrm>
          <a:prstGeom prst="roundRect">
            <a:avLst>
              <a:gd name="adj" fmla="val 17391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314700"/>
            <a:ext cx="171450" cy="190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FUTURE ROADMAP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Post-Hackathon Scaling 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2050" y="3324225"/>
            <a:ext cx="972740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Plus Jakarta Sans"/>
              </a:rPr>
              <a:t>Cloud Storage Upgrade:</a:t>
            </a:r>
            <a:r>
              <a:rPr b="0" sz="1050" i="0" u="none">
                <a:solidFill>
                  <a:srgbClr val="FFFFFF"/>
                </a:solidFill>
                <a:latin typeface="Plus Jakarta Sans"/>
              </a:rPr>
              <a:t> Migrating photo storage to S3/MinIO buckets to handle high-volume campus media files seamlessly.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1676400"/>
            <a:ext cx="6381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FFFFFF"/>
                </a:solidFill>
                <a:latin typeface="Plus Jakarta Sans"/>
              </a:rPr>
              <a:t>PHASE 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1943100"/>
            <a:ext cx="397549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WhatsApp Dispatch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2238375"/>
            <a:ext cx="31242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Direct automated alerts to on-duty staff for critical tickets.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7725" y="1676400"/>
            <a:ext cx="6572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FFFFFF"/>
                </a:solidFill>
                <a:latin typeface="Plus Jakarta Sans"/>
              </a:rPr>
              <a:t>PHASE 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525" y="1943100"/>
            <a:ext cx="397549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Recurring Analytics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1525" y="2238375"/>
            <a:ext cx="31242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Identify problem equipment across buildings for proactive replacement.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1525" y="1676400"/>
            <a:ext cx="6572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FFFFFF"/>
                </a:solidFill>
                <a:latin typeface="Plus Jakarta Sans"/>
              </a:rPr>
              <a:t>PHASE 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5325" y="1943100"/>
            <a:ext cx="38766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Multilingual &amp; Voice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5325" y="2238375"/>
            <a:ext cx="31242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Hindi support and Whisper AI voice logging for ground staff.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175396" y="4019550"/>
            <a:ext cx="5841057" cy="828675"/>
          </a:xfrm>
          <a:prstGeom prst="roundRect">
            <a:avLst>
              <a:gd name="adj" fmla="val 1379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613921" y="4257675"/>
            <a:ext cx="2088207" cy="3524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13921" y="4257675"/>
            <a:ext cx="9525" cy="3524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25640" y="2009775"/>
            <a:ext cx="194071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38BDF8"/>
                </a:solidFill>
                <a:latin typeface="Space Grotesk"/>
              </a:rPr>
              <a:t>HACKATHON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58020" y="2333625"/>
            <a:ext cx="7675959" cy="676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200" i="0" u="none">
                <a:solidFill>
                  <a:srgbClr val="FFFFFF"/>
                </a:solidFill>
                <a:latin typeface="Space Grotesk"/>
              </a:rPr>
              <a:t>Thank You! Questions?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24125" y="3162300"/>
            <a:ext cx="71437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Plus Jakarta Sans"/>
              </a:rPr>
              <a:t>We invite the judges to test our live user chat and inspect the n8n admin dashboard.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89721" y="4257675"/>
            <a:ext cx="361950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94A3B8"/>
                </a:solidFill>
                <a:latin typeface="Plus Jakarta Sans"/>
              </a:rPr>
              <a:t>LIVE USER CHAT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89721" y="4438650"/>
            <a:ext cx="36195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glaharshit.app.n8n.cloud/webhook/meridian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2046" y="4257675"/>
            <a:ext cx="2312603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94A3B8"/>
                </a:solidFill>
                <a:latin typeface="Plus Jakarta Sans"/>
              </a:rPr>
              <a:t>ADMIN ACCESS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2046" y="4438650"/>
            <a:ext cx="231260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Plus Jakarta Sans"/>
              </a:rPr>
              <a:t>User: </a:t>
            </a:r>
            <a:r>
              <a:rPr b="1" sz="1050" i="0" u="none">
                <a:solidFill>
                  <a:srgbClr val="FFFFFF"/>
                </a:solidFill>
                <a:latin typeface="Plus Jakarta Sans"/>
              </a:rPr>
              <a:t>code26</a:t>
            </a:r>
            <a:r>
              <a:rPr b="1" sz="1050" i="0" u="none">
                <a:solidFill>
                  <a:srgbClr val="FFFFFF"/>
                </a:solidFill>
                <a:latin typeface="Plus Jakarta Sans"/>
              </a:rPr>
              <a:t> | Pass: </a:t>
            </a:r>
            <a:r>
              <a:rPr b="1" sz="1050" i="0" u="none">
                <a:solidFill>
                  <a:srgbClr val="FFFFFF"/>
                </a:solidFill>
                <a:latin typeface="Plus Jakarta Sans"/>
              </a:rPr>
              <a:t>code@26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